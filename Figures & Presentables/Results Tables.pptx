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485"/>
    <p:restoredTop sz="94718"/>
  </p:normalViewPr>
  <p:slideViewPr>
    <p:cSldViewPr snapToGrid="0">
      <p:cViewPr>
        <p:scale>
          <a:sx n="106" d="100"/>
          <a:sy n="106" d="100"/>
        </p:scale>
        <p:origin x="1320" y="4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1CF91F-3F63-1F42-9D5C-94D20AA3F542}" type="datetimeFigureOut">
              <a:rPr lang="en-GB" smtClean="0"/>
              <a:t>09/10/2025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89154D-D3D8-E441-843E-F4B7342356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02882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89154D-D3D8-E441-843E-F4B7342356D4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09938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89154D-D3D8-E441-843E-F4B7342356D4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88086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B9722-DA7B-0B5B-1B70-050A3F1BFE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B717BC-4AA6-A955-4FC6-5E06FE8719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BF3606-448B-9119-7D04-A5C5110BB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19A75-24C2-BE48-844B-19E784565232}" type="datetimeFigureOut">
              <a:rPr lang="en-GB" smtClean="0"/>
              <a:t>09/10/2025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3A4C9-7B5C-1D2C-7F8D-2622D4CFE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2FDF5B-DC7F-EB10-D8DE-63C2EDDB7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7129-D434-9542-8476-0E5A181E9E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05153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3AE9B-4667-5C59-87E3-5FE38CBC6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84680E-9136-708E-9FEA-DDF9DD510B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D8DA7B-6387-0694-013F-138042B57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19A75-24C2-BE48-844B-19E784565232}" type="datetimeFigureOut">
              <a:rPr lang="en-GB" smtClean="0"/>
              <a:t>09/10/2025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83C9D2-8158-EE42-B144-AF48FC297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177179-A6BA-F87F-0757-F04190C71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7129-D434-9542-8476-0E5A181E9E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2854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E9528-8CE3-E7DC-247E-6311DB7B8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9B317C-7B70-73F6-824D-1190F795EB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147887-6C39-DA9B-C0B1-F7377FB3B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19A75-24C2-BE48-844B-19E784565232}" type="datetimeFigureOut">
              <a:rPr lang="en-GB" smtClean="0"/>
              <a:t>09/10/2025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48A91C-4A7D-A5FD-376F-E4A11D510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D48516-EA13-C329-1CB0-FE608DFD9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7129-D434-9542-8476-0E5A181E9E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5522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C0E78-8769-C8EF-DDF7-1A6CCF863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142391-A067-953C-0662-BF0B650CE0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4459FB-2AD4-44B6-DD00-AAE6DEDB82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4DA70D-B9F4-6F65-98C4-7DFBFC289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19A75-24C2-BE48-844B-19E784565232}" type="datetimeFigureOut">
              <a:rPr lang="en-GB" smtClean="0"/>
              <a:t>09/10/2025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69698F-00CE-FB8D-3AE3-16A661DC7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A9F33B-3F6A-60E0-A2EA-84E90E7E3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7129-D434-9542-8476-0E5A181E9E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8393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1915B-CDAB-FB68-D61E-9BA691216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249CD9-EF02-001A-689A-55631FD0A2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4FEFF3-B0F5-3993-6EF2-A67F7F187A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41003F-DD45-9A83-63CA-EC7976A615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64A6BE-7E34-0D16-B85F-60D5DACA79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6A2801-86A0-C33A-1CA4-070EA8509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19A75-24C2-BE48-844B-19E784565232}" type="datetimeFigureOut">
              <a:rPr lang="en-GB" smtClean="0"/>
              <a:t>09/10/2025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3B2D9FC-3002-2257-6254-45396C62F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C97320-3512-B60D-8273-9A9F8E473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7129-D434-9542-8476-0E5A181E9E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5061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9C5AF-3BEF-D374-6C5C-E8D47917F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7E15CA-0024-8EFE-79E4-9011C912A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19A75-24C2-BE48-844B-19E784565232}" type="datetimeFigureOut">
              <a:rPr lang="en-GB" smtClean="0"/>
              <a:t>09/10/2025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698CAB-B64F-81F6-39AF-130FCDBFA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3959CA-D16E-B470-4B1E-9F1EF7959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7129-D434-9542-8476-0E5A181E9E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0650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8BE068-B863-659C-4F38-4958FC459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19A75-24C2-BE48-844B-19E784565232}" type="datetimeFigureOut">
              <a:rPr lang="en-GB" smtClean="0"/>
              <a:t>09/10/2025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1A5FC2-C68D-AB8B-7EBB-7D8095754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A3AD1F-00A5-A4C5-0204-681052F37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7129-D434-9542-8476-0E5A181E9E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9997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F1F82-C89B-E687-4B0A-AAF7BC690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45AD5A-BBE9-4B9B-0C9F-20E8A2C777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4F9CBA-44AB-5B0B-130C-2CE25C7C41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37591C-13FF-4746-8665-78FAE3441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19A75-24C2-BE48-844B-19E784565232}" type="datetimeFigureOut">
              <a:rPr lang="en-GB" smtClean="0"/>
              <a:t>09/10/2025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3E45A9-06EB-241D-28F0-4BCED288D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A8BB1C-B9CA-1833-06EC-00E1DFC44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7129-D434-9542-8476-0E5A181E9E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30847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FE6B4-2BDC-A3F4-6AFD-8A1B010D1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4C04C0-C886-FFDD-9426-0D113E36E9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64EC3D-4806-CC7E-E76C-858B9E7CDF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78D499-0A2D-F433-7357-462D371E4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19A75-24C2-BE48-844B-19E784565232}" type="datetimeFigureOut">
              <a:rPr lang="en-GB" smtClean="0"/>
              <a:t>09/10/2025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BE69E7-930C-E69D-37A2-50C7A7BE8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ACB64D-1BF3-39CD-17B3-362F4580B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7129-D434-9542-8476-0E5A181E9E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5345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F4D06-9745-E70C-050A-7F422A701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F8594C-1A36-CBAE-3DFD-F0C617E3E0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65C3CA-0273-60A8-020A-D6C475372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19A75-24C2-BE48-844B-19E784565232}" type="datetimeFigureOut">
              <a:rPr lang="en-GB" smtClean="0"/>
              <a:t>09/10/2025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15C2D9-5C85-A85D-ACFB-CF66B9FE1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DBE3B3-5D7B-854B-46CC-EC0D9D124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7129-D434-9542-8476-0E5A181E9E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8402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249BBA-922D-2EA6-8F14-85BCBD7056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49E18A-F5A5-983C-A6EC-22C8CF80BF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261A3B-FAF8-63DD-1FC2-7DA00B93F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19A75-24C2-BE48-844B-19E784565232}" type="datetimeFigureOut">
              <a:rPr lang="en-GB" smtClean="0"/>
              <a:t>09/10/2025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36B0E2-2CFF-7F0E-6CEE-396D0F705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0713CA-BDAB-98EF-F7D8-289F74C91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7129-D434-9542-8476-0E5A181E9E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5226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5C6727-7122-6DB4-33A1-181740FD2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6E788F-6C58-A708-575B-D1B3A2C735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04EB77-699F-2188-FF76-F0E8E10FC1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519A75-24C2-BE48-844B-19E784565232}" type="datetimeFigureOut">
              <a:rPr lang="en-GB" smtClean="0"/>
              <a:t>09/10/2025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1B9DE-29A4-C368-AF84-4110F42E11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6E569B-DE9C-8231-7022-B531EF8ED9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0F7129-D434-9542-8476-0E5A181E9E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95158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B2BA335-E724-52F2-FBEC-E585DAD8B7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5103083"/>
              </p:ext>
            </p:extLst>
          </p:nvPr>
        </p:nvGraphicFramePr>
        <p:xfrm>
          <a:off x="906928" y="489563"/>
          <a:ext cx="2220468" cy="19202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18388">
                  <a:extLst>
                    <a:ext uri="{9D8B030D-6E8A-4147-A177-3AD203B41FA5}">
                      <a16:colId xmlns:a16="http://schemas.microsoft.com/office/drawing/2014/main" val="2772426056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val="17163277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sz="1400" kern="100">
                          <a:effectLst/>
                        </a:rPr>
                        <a:t>Protein</a:t>
                      </a:r>
                      <a:endParaRPr lang="en-GB" sz="14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sz="1400" kern="100">
                          <a:effectLst/>
                        </a:rPr>
                        <a:t>Model</a:t>
                      </a:r>
                      <a:endParaRPr lang="en-GB" sz="14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720511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sz="1400" kern="100">
                          <a:effectLst/>
                        </a:rPr>
                        <a:t>PB2</a:t>
                      </a:r>
                      <a:endParaRPr lang="en-GB" sz="14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sz="1400" kern="100">
                          <a:effectLst/>
                        </a:rPr>
                        <a:t>FLU+R4</a:t>
                      </a:r>
                      <a:endParaRPr lang="en-GB" sz="14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739552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sz="1400" kern="100">
                          <a:effectLst/>
                        </a:rPr>
                        <a:t>PB1</a:t>
                      </a:r>
                      <a:endParaRPr lang="en-GB" sz="14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sz="1400" kern="100" dirty="0">
                          <a:effectLst/>
                        </a:rPr>
                        <a:t>FLU+R4</a:t>
                      </a:r>
                      <a:endParaRPr lang="en-GB" sz="1400" kern="100" dirty="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077820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sz="1400" kern="100">
                          <a:effectLst/>
                        </a:rPr>
                        <a:t>PA</a:t>
                      </a:r>
                      <a:endParaRPr lang="en-GB" sz="14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sz="1400" kern="100">
                          <a:effectLst/>
                        </a:rPr>
                        <a:t>FLU+R5</a:t>
                      </a:r>
                      <a:endParaRPr lang="en-GB" sz="14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989137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sz="1400" kern="100" dirty="0">
                          <a:effectLst/>
                        </a:rPr>
                        <a:t>HA</a:t>
                      </a:r>
                      <a:endParaRPr lang="en-GB" sz="1400" kern="100" dirty="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sz="1400" kern="100">
                          <a:effectLst/>
                        </a:rPr>
                        <a:t>FLU+R8</a:t>
                      </a:r>
                      <a:endParaRPr lang="en-GB" sz="14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874895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sz="1400" kern="100">
                          <a:effectLst/>
                        </a:rPr>
                        <a:t>NP</a:t>
                      </a:r>
                      <a:endParaRPr lang="en-GB" sz="14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sz="1400" kern="100" dirty="0">
                          <a:effectLst/>
                        </a:rPr>
                        <a:t>Q.mammal+R4</a:t>
                      </a:r>
                      <a:endParaRPr lang="en-GB" sz="1400" kern="100" dirty="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307564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sz="1400" kern="100">
                          <a:effectLst/>
                        </a:rPr>
                        <a:t>NA</a:t>
                      </a:r>
                      <a:endParaRPr lang="en-GB" sz="14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sz="1400" kern="100">
                          <a:effectLst/>
                        </a:rPr>
                        <a:t>FLU+R5</a:t>
                      </a:r>
                      <a:endParaRPr lang="en-GB" sz="14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310980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sz="1400" kern="100">
                          <a:effectLst/>
                        </a:rPr>
                        <a:t>M1</a:t>
                      </a:r>
                      <a:endParaRPr lang="en-GB" sz="14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sz="1400" kern="100">
                          <a:effectLst/>
                        </a:rPr>
                        <a:t>Q.mammal+R3</a:t>
                      </a:r>
                      <a:endParaRPr lang="en-GB" sz="14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595564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sz="1400" kern="100">
                          <a:effectLst/>
                        </a:rPr>
                        <a:t>NS1</a:t>
                      </a:r>
                      <a:endParaRPr lang="en-GB" sz="14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sz="1400" kern="100" dirty="0">
                          <a:effectLst/>
                        </a:rPr>
                        <a:t>HIVw+R6</a:t>
                      </a:r>
                      <a:endParaRPr lang="en-GB" sz="1400" kern="100" dirty="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7083370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EF618ED-9B25-6379-6EA3-B5F8F3E225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7274038"/>
              </p:ext>
            </p:extLst>
          </p:nvPr>
        </p:nvGraphicFramePr>
        <p:xfrm>
          <a:off x="4422763" y="489563"/>
          <a:ext cx="2446719" cy="19202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18388">
                  <a:extLst>
                    <a:ext uri="{9D8B030D-6E8A-4147-A177-3AD203B41FA5}">
                      <a16:colId xmlns:a16="http://schemas.microsoft.com/office/drawing/2014/main" val="1031944936"/>
                    </a:ext>
                  </a:extLst>
                </a:gridCol>
                <a:gridCol w="679958">
                  <a:extLst>
                    <a:ext uri="{9D8B030D-6E8A-4147-A177-3AD203B41FA5}">
                      <a16:colId xmlns:a16="http://schemas.microsoft.com/office/drawing/2014/main" val="106372356"/>
                    </a:ext>
                  </a:extLst>
                </a:gridCol>
                <a:gridCol w="948373">
                  <a:extLst>
                    <a:ext uri="{9D8B030D-6E8A-4147-A177-3AD203B41FA5}">
                      <a16:colId xmlns:a16="http://schemas.microsoft.com/office/drawing/2014/main" val="27891437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sz="1400" kern="100">
                          <a:effectLst/>
                        </a:rPr>
                        <a:t>Protein</a:t>
                      </a:r>
                      <a:endParaRPr lang="en-GB" sz="14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sz="1400" kern="100">
                          <a:effectLst/>
                        </a:rPr>
                        <a:t>Avian</a:t>
                      </a:r>
                      <a:endParaRPr lang="en-GB" sz="14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sz="1400" kern="100">
                          <a:effectLst/>
                        </a:rPr>
                        <a:t>Mammal</a:t>
                      </a:r>
                      <a:endParaRPr lang="en-GB" sz="14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105865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sz="1400" kern="100">
                          <a:effectLst/>
                        </a:rPr>
                        <a:t>PB2</a:t>
                      </a:r>
                      <a:endParaRPr lang="en-GB" sz="14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sz="1400" kern="100">
                          <a:effectLst/>
                        </a:rPr>
                        <a:t>338</a:t>
                      </a:r>
                      <a:endParaRPr lang="en-GB" sz="14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sz="1400" kern="100">
                          <a:effectLst/>
                        </a:rPr>
                        <a:t>561</a:t>
                      </a:r>
                      <a:endParaRPr lang="en-GB" sz="14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775415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sz="1400" kern="100" dirty="0">
                          <a:effectLst/>
                        </a:rPr>
                        <a:t>PB1</a:t>
                      </a:r>
                      <a:endParaRPr lang="en-GB" sz="1400" kern="100" dirty="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sz="1400" kern="100" dirty="0">
                          <a:effectLst/>
                        </a:rPr>
                        <a:t>303</a:t>
                      </a:r>
                      <a:endParaRPr lang="en-GB" sz="1400" kern="100" dirty="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sz="1400" kern="100">
                          <a:effectLst/>
                        </a:rPr>
                        <a:t>255</a:t>
                      </a:r>
                      <a:endParaRPr lang="en-GB" sz="14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263060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sz="1400" kern="100" dirty="0">
                          <a:effectLst/>
                        </a:rPr>
                        <a:t>PA</a:t>
                      </a:r>
                      <a:endParaRPr lang="en-GB" sz="1400" kern="100" dirty="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sz="1400" kern="100">
                          <a:effectLst/>
                        </a:rPr>
                        <a:t>282</a:t>
                      </a:r>
                      <a:endParaRPr lang="en-GB" sz="14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sz="1400" kern="100" dirty="0">
                          <a:effectLst/>
                        </a:rPr>
                        <a:t>415</a:t>
                      </a:r>
                      <a:endParaRPr lang="en-GB" sz="1400" kern="100" dirty="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962179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sz="1400" kern="100">
                          <a:effectLst/>
                        </a:rPr>
                        <a:t>HA</a:t>
                      </a:r>
                      <a:endParaRPr lang="en-GB" sz="14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sz="1400" kern="100">
                          <a:effectLst/>
                        </a:rPr>
                        <a:t>1406</a:t>
                      </a:r>
                      <a:endParaRPr lang="en-GB" sz="14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sz="1400" kern="100" dirty="0">
                          <a:effectLst/>
                        </a:rPr>
                        <a:t>919</a:t>
                      </a:r>
                      <a:endParaRPr lang="en-GB" sz="1400" kern="100" dirty="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053195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sz="1400" kern="100">
                          <a:effectLst/>
                        </a:rPr>
                        <a:t>NP</a:t>
                      </a:r>
                      <a:endParaRPr lang="en-GB" sz="14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sz="1400" kern="100">
                          <a:effectLst/>
                        </a:rPr>
                        <a:t>215</a:t>
                      </a:r>
                      <a:endParaRPr lang="en-GB" sz="14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sz="1400" kern="100">
                          <a:effectLst/>
                        </a:rPr>
                        <a:t>244</a:t>
                      </a:r>
                      <a:endParaRPr lang="en-GB" sz="14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456569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sz="1400" kern="100">
                          <a:effectLst/>
                        </a:rPr>
                        <a:t>NA</a:t>
                      </a:r>
                      <a:endParaRPr lang="en-GB" sz="14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sz="1400" kern="100">
                          <a:effectLst/>
                        </a:rPr>
                        <a:t>185</a:t>
                      </a:r>
                      <a:endParaRPr lang="en-GB" sz="14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sz="1400" kern="100">
                          <a:effectLst/>
                        </a:rPr>
                        <a:t>207</a:t>
                      </a:r>
                      <a:endParaRPr lang="en-GB" sz="14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303272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sz="1400" kern="100">
                          <a:effectLst/>
                        </a:rPr>
                        <a:t>M1</a:t>
                      </a:r>
                      <a:endParaRPr lang="en-GB" sz="14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sz="1400" kern="100">
                          <a:effectLst/>
                        </a:rPr>
                        <a:t>73</a:t>
                      </a:r>
                      <a:endParaRPr lang="en-GB" sz="14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sz="1400" kern="100">
                          <a:effectLst/>
                        </a:rPr>
                        <a:t>149</a:t>
                      </a:r>
                      <a:endParaRPr lang="en-GB" sz="14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031239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sz="1400" kern="100">
                          <a:effectLst/>
                        </a:rPr>
                        <a:t>NS1</a:t>
                      </a:r>
                      <a:endParaRPr lang="en-GB" sz="14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sz="1400" kern="100">
                          <a:effectLst/>
                        </a:rPr>
                        <a:t>539</a:t>
                      </a:r>
                      <a:endParaRPr lang="en-GB" sz="14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sz="1400" kern="100" dirty="0">
                          <a:effectLst/>
                        </a:rPr>
                        <a:t>606</a:t>
                      </a:r>
                      <a:endParaRPr lang="en-GB" sz="1400" kern="100" dirty="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2853655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F23AF9C-CF9D-F247-84E8-0EE70D9800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0898775"/>
              </p:ext>
            </p:extLst>
          </p:nvPr>
        </p:nvGraphicFramePr>
        <p:xfrm>
          <a:off x="7928559" y="489563"/>
          <a:ext cx="3020822" cy="19202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18388">
                  <a:extLst>
                    <a:ext uri="{9D8B030D-6E8A-4147-A177-3AD203B41FA5}">
                      <a16:colId xmlns:a16="http://schemas.microsoft.com/office/drawing/2014/main" val="956235438"/>
                    </a:ext>
                  </a:extLst>
                </a:gridCol>
                <a:gridCol w="762635">
                  <a:extLst>
                    <a:ext uri="{9D8B030D-6E8A-4147-A177-3AD203B41FA5}">
                      <a16:colId xmlns:a16="http://schemas.microsoft.com/office/drawing/2014/main" val="4178724167"/>
                    </a:ext>
                  </a:extLst>
                </a:gridCol>
                <a:gridCol w="772414">
                  <a:extLst>
                    <a:ext uri="{9D8B030D-6E8A-4147-A177-3AD203B41FA5}">
                      <a16:colId xmlns:a16="http://schemas.microsoft.com/office/drawing/2014/main" val="1475954811"/>
                    </a:ext>
                  </a:extLst>
                </a:gridCol>
                <a:gridCol w="667385">
                  <a:extLst>
                    <a:ext uri="{9D8B030D-6E8A-4147-A177-3AD203B41FA5}">
                      <a16:colId xmlns:a16="http://schemas.microsoft.com/office/drawing/2014/main" val="23951293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sz="1400" kern="100">
                          <a:effectLst/>
                        </a:rPr>
                        <a:t>Protein</a:t>
                      </a:r>
                      <a:endParaRPr lang="en-GB" sz="14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sz="1400" kern="100">
                          <a:effectLst/>
                        </a:rPr>
                        <a:t>F1</a:t>
                      </a:r>
                      <a:r>
                        <a:rPr lang="en-GB" sz="1400" kern="100" baseline="-25000">
                          <a:effectLst/>
                        </a:rPr>
                        <a:t>micro</a:t>
                      </a:r>
                      <a:endParaRPr lang="en-GB" sz="14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sz="1400" kern="100">
                          <a:effectLst/>
                        </a:rPr>
                        <a:t>F1</a:t>
                      </a:r>
                      <a:r>
                        <a:rPr lang="en-GB" sz="1400" kern="100" baseline="-25000">
                          <a:effectLst/>
                        </a:rPr>
                        <a:t>macro</a:t>
                      </a:r>
                      <a:endParaRPr lang="en-GB" sz="14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sz="1400" kern="100">
                          <a:effectLst/>
                        </a:rPr>
                        <a:t>AUC</a:t>
                      </a:r>
                      <a:endParaRPr lang="en-GB" sz="14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77984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sz="1400" kern="100">
                          <a:effectLst/>
                        </a:rPr>
                        <a:t>PB2</a:t>
                      </a:r>
                      <a:endParaRPr lang="en-GB" sz="14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sz="1400" kern="100">
                          <a:effectLst/>
                        </a:rPr>
                        <a:t>0.8431</a:t>
                      </a:r>
                      <a:endParaRPr lang="en-GB" sz="14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sz="1400" kern="100">
                          <a:effectLst/>
                        </a:rPr>
                        <a:t>0.5177</a:t>
                      </a:r>
                      <a:endParaRPr lang="en-GB" sz="14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sz="1400" kern="100">
                          <a:effectLst/>
                        </a:rPr>
                        <a:t>0.570</a:t>
                      </a:r>
                      <a:endParaRPr lang="en-GB" sz="14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280590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sz="1400" kern="100">
                          <a:effectLst/>
                        </a:rPr>
                        <a:t>PB1</a:t>
                      </a:r>
                      <a:endParaRPr lang="en-GB" sz="14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sz="1400" kern="100" dirty="0">
                          <a:effectLst/>
                        </a:rPr>
                        <a:t>0.8074</a:t>
                      </a:r>
                      <a:endParaRPr lang="en-GB" sz="1400" kern="100" dirty="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sz="1400" kern="100">
                          <a:effectLst/>
                        </a:rPr>
                        <a:t>0.3840</a:t>
                      </a:r>
                      <a:endParaRPr lang="en-GB" sz="14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sz="1400" kern="100">
                          <a:effectLst/>
                        </a:rPr>
                        <a:t>0.527</a:t>
                      </a:r>
                      <a:endParaRPr lang="en-GB" sz="14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005252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sz="1400" kern="100">
                          <a:effectLst/>
                        </a:rPr>
                        <a:t>PA</a:t>
                      </a:r>
                      <a:endParaRPr lang="en-GB" sz="14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sz="1400" kern="100">
                          <a:effectLst/>
                        </a:rPr>
                        <a:t>0.8750</a:t>
                      </a:r>
                      <a:endParaRPr lang="en-GB" sz="14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sz="1400" kern="100">
                          <a:effectLst/>
                        </a:rPr>
                        <a:t>0.5749</a:t>
                      </a:r>
                      <a:endParaRPr lang="en-GB" sz="14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sz="1400" kern="100">
                          <a:effectLst/>
                        </a:rPr>
                        <a:t>0.575</a:t>
                      </a:r>
                      <a:endParaRPr lang="en-GB" sz="14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786356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sz="1400" kern="100">
                          <a:effectLst/>
                        </a:rPr>
                        <a:t>HA</a:t>
                      </a:r>
                      <a:endParaRPr lang="en-GB" sz="14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sz="1400" kern="100" dirty="0">
                          <a:effectLst/>
                        </a:rPr>
                        <a:t>0.7699</a:t>
                      </a:r>
                      <a:endParaRPr lang="en-GB" sz="1400" kern="100" dirty="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sz="1400" kern="100" dirty="0">
                          <a:effectLst/>
                        </a:rPr>
                        <a:t>0.2947</a:t>
                      </a:r>
                      <a:endParaRPr lang="en-GB" sz="1400" kern="100" dirty="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sz="1400" kern="100">
                          <a:effectLst/>
                        </a:rPr>
                        <a:t>0.558</a:t>
                      </a:r>
                      <a:endParaRPr lang="en-GB" sz="14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329231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sz="1400" kern="100">
                          <a:effectLst/>
                        </a:rPr>
                        <a:t>NP</a:t>
                      </a:r>
                      <a:endParaRPr lang="en-GB" sz="14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sz="1400" kern="100">
                          <a:effectLst/>
                        </a:rPr>
                        <a:t>0.8840</a:t>
                      </a:r>
                      <a:endParaRPr lang="en-GB" sz="14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sz="1400" kern="100" dirty="0">
                          <a:effectLst/>
                        </a:rPr>
                        <a:t>0.4957</a:t>
                      </a:r>
                      <a:endParaRPr lang="en-GB" sz="1400" kern="100" dirty="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sz="1400" kern="100">
                          <a:effectLst/>
                        </a:rPr>
                        <a:t>0.556</a:t>
                      </a:r>
                      <a:endParaRPr lang="en-GB" sz="14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421210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sz="1400" kern="100">
                          <a:effectLst/>
                        </a:rPr>
                        <a:t>NA</a:t>
                      </a:r>
                      <a:endParaRPr lang="en-GB" sz="14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sz="1400" kern="100">
                          <a:effectLst/>
                        </a:rPr>
                        <a:t>0.7349</a:t>
                      </a:r>
                      <a:endParaRPr lang="en-GB" sz="14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sz="1400" kern="100">
                          <a:effectLst/>
                        </a:rPr>
                        <a:t>0.3321</a:t>
                      </a:r>
                      <a:endParaRPr lang="en-GB" sz="14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sz="1400" kern="100">
                          <a:effectLst/>
                        </a:rPr>
                        <a:t>0.527</a:t>
                      </a:r>
                      <a:endParaRPr lang="en-GB" sz="14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198861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sz="1400" kern="100">
                          <a:effectLst/>
                        </a:rPr>
                        <a:t>M1</a:t>
                      </a:r>
                      <a:endParaRPr lang="en-GB" sz="14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sz="1400" kern="100">
                          <a:effectLst/>
                        </a:rPr>
                        <a:t>0.8632</a:t>
                      </a:r>
                      <a:endParaRPr lang="en-GB" sz="14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sz="1400" kern="100">
                          <a:effectLst/>
                        </a:rPr>
                        <a:t>0.5168</a:t>
                      </a:r>
                      <a:endParaRPr lang="en-GB" sz="14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sz="1400" kern="100">
                          <a:effectLst/>
                        </a:rPr>
                        <a:t>0.559</a:t>
                      </a:r>
                      <a:endParaRPr lang="en-GB" sz="14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599418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sz="1400" kern="100">
                          <a:effectLst/>
                        </a:rPr>
                        <a:t>NS1</a:t>
                      </a:r>
                      <a:endParaRPr lang="en-GB" sz="14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sz="1400" kern="100">
                          <a:effectLst/>
                        </a:rPr>
                        <a:t>0.9098</a:t>
                      </a:r>
                      <a:endParaRPr lang="en-GB" sz="14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sz="1400" kern="100" dirty="0">
                          <a:effectLst/>
                        </a:rPr>
                        <a:t>0.5188</a:t>
                      </a:r>
                      <a:endParaRPr lang="en-GB" sz="1400" kern="100" dirty="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sz="1400" kern="100" dirty="0">
                          <a:effectLst/>
                        </a:rPr>
                        <a:t>0.565</a:t>
                      </a:r>
                      <a:endParaRPr lang="en-GB" sz="1400" kern="100" dirty="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5539387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6827923-C677-CF52-8405-1DEE8FBFB3A6}"/>
              </a:ext>
            </a:extLst>
          </p:cNvPr>
          <p:cNvSpPr txBox="1"/>
          <p:nvPr/>
        </p:nvSpPr>
        <p:spPr>
          <a:xfrm>
            <a:off x="670639" y="2412068"/>
            <a:ext cx="26930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Table 1: Evolutionary models attributed to each protein.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A22779-868E-B0AA-9EE6-31CA05C813B2}"/>
              </a:ext>
            </a:extLst>
          </p:cNvPr>
          <p:cNvSpPr txBox="1"/>
          <p:nvPr/>
        </p:nvSpPr>
        <p:spPr>
          <a:xfrm>
            <a:off x="4245611" y="2409802"/>
            <a:ext cx="280617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Table 2: Protein sequences that differ more than 5% in sequence identity. These were used for both phylogenetic and ML models.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C7A82A-2EDA-B6E9-35AE-01E8A1CBF1E5}"/>
              </a:ext>
            </a:extLst>
          </p:cNvPr>
          <p:cNvSpPr txBox="1"/>
          <p:nvPr/>
        </p:nvSpPr>
        <p:spPr>
          <a:xfrm>
            <a:off x="7806089" y="2409802"/>
            <a:ext cx="338809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Table 3: Machine Learning accuracy statistics, calculated from confusion matrices where the predicted origin host was compared against the known host of origin.</a:t>
            </a:r>
          </a:p>
        </p:txBody>
      </p:sp>
    </p:spTree>
    <p:extLst>
      <p:ext uri="{BB962C8B-B14F-4D97-AF65-F5344CB8AC3E}">
        <p14:creationId xmlns:p14="http://schemas.microsoft.com/office/powerpoint/2010/main" val="33146061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1DF5E5DB-0A99-C2D4-2F17-1D8B8FE92BA7}"/>
              </a:ext>
            </a:extLst>
          </p:cNvPr>
          <p:cNvGrpSpPr/>
          <p:nvPr/>
        </p:nvGrpSpPr>
        <p:grpSpPr>
          <a:xfrm>
            <a:off x="1947563" y="1"/>
            <a:ext cx="6212105" cy="6850026"/>
            <a:chOff x="2271486" y="357187"/>
            <a:chExt cx="5888182" cy="649283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E24BD20-9664-D76D-7D74-71577A8F1D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5325"/>
            <a:stretch/>
          </p:blipFill>
          <p:spPr>
            <a:xfrm>
              <a:off x="2271486" y="357187"/>
              <a:ext cx="5888182" cy="6492839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91594E5-4412-86FB-65F9-7A5693FC5E0E}"/>
                </a:ext>
              </a:extLst>
            </p:cNvPr>
            <p:cNvSpPr/>
            <p:nvPr/>
          </p:nvSpPr>
          <p:spPr>
            <a:xfrm>
              <a:off x="5289081" y="685800"/>
              <a:ext cx="2765421" cy="6023007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E0D8074B-8806-2C8A-E874-1F858B5D8606}"/>
              </a:ext>
            </a:extLst>
          </p:cNvPr>
          <p:cNvSpPr/>
          <p:nvPr/>
        </p:nvSpPr>
        <p:spPr>
          <a:xfrm>
            <a:off x="1947563" y="2900855"/>
            <a:ext cx="722066" cy="29429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51460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9A6DC114-D857-D08C-4495-B4BF9CFA5E97}"/>
              </a:ext>
            </a:extLst>
          </p:cNvPr>
          <p:cNvGrpSpPr/>
          <p:nvPr/>
        </p:nvGrpSpPr>
        <p:grpSpPr>
          <a:xfrm>
            <a:off x="565485" y="733924"/>
            <a:ext cx="10672010" cy="926433"/>
            <a:chOff x="565485" y="733924"/>
            <a:chExt cx="10672010" cy="926433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413BC9F-0022-B8F4-1803-FD272E313611}"/>
                </a:ext>
              </a:extLst>
            </p:cNvPr>
            <p:cNvSpPr/>
            <p:nvPr/>
          </p:nvSpPr>
          <p:spPr>
            <a:xfrm>
              <a:off x="565485" y="733926"/>
              <a:ext cx="2165684" cy="926431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000" dirty="0">
                  <a:solidFill>
                    <a:sysClr val="windowText" lastClr="000000"/>
                  </a:solidFill>
                </a:rPr>
                <a:t>Model Type</a:t>
              </a:r>
            </a:p>
            <a:p>
              <a:pPr algn="ctr"/>
              <a:r>
                <a:rPr lang="en-GB" sz="2000" dirty="0">
                  <a:solidFill>
                    <a:sysClr val="windowText" lastClr="000000"/>
                  </a:solidFill>
                </a:rPr>
                <a:t>(2)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D050468-A947-727E-D0A7-13A630806A57}"/>
                </a:ext>
              </a:extLst>
            </p:cNvPr>
            <p:cNvSpPr/>
            <p:nvPr/>
          </p:nvSpPr>
          <p:spPr>
            <a:xfrm>
              <a:off x="3400927" y="733925"/>
              <a:ext cx="2165684" cy="926431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000" dirty="0">
                  <a:solidFill>
                    <a:sysClr val="windowText" lastClr="000000"/>
                  </a:solidFill>
                </a:rPr>
                <a:t>Protein</a:t>
              </a:r>
            </a:p>
            <a:p>
              <a:pPr algn="ctr"/>
              <a:r>
                <a:rPr lang="en-GB" sz="2000" dirty="0">
                  <a:solidFill>
                    <a:sysClr val="windowText" lastClr="000000"/>
                  </a:solidFill>
                </a:rPr>
                <a:t>(8)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4F9114F-3837-A993-5D8A-5C3DD8431925}"/>
                </a:ext>
              </a:extLst>
            </p:cNvPr>
            <p:cNvSpPr/>
            <p:nvPr/>
          </p:nvSpPr>
          <p:spPr>
            <a:xfrm>
              <a:off x="6236369" y="733924"/>
              <a:ext cx="2165684" cy="926431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000" dirty="0">
                  <a:solidFill>
                    <a:sysClr val="windowText" lastClr="000000"/>
                  </a:solidFill>
                </a:rPr>
                <a:t>Protein Feature Dataset (6)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93441FC-E8D8-B223-B360-10F1F61888EB}"/>
                </a:ext>
              </a:extLst>
            </p:cNvPr>
            <p:cNvSpPr/>
            <p:nvPr/>
          </p:nvSpPr>
          <p:spPr>
            <a:xfrm>
              <a:off x="9071811" y="733924"/>
              <a:ext cx="2165684" cy="926431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000" dirty="0">
                  <a:solidFill>
                    <a:sysClr val="windowText" lastClr="000000"/>
                  </a:solidFill>
                </a:rPr>
                <a:t>Virus Subtype Group (26)</a:t>
              </a:r>
            </a:p>
          </p:txBody>
        </p:sp>
      </p:grp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7EB83F5-7A24-D326-677E-C084DF31AAD7}"/>
              </a:ext>
            </a:extLst>
          </p:cNvPr>
          <p:cNvSpPr/>
          <p:nvPr/>
        </p:nvSpPr>
        <p:spPr>
          <a:xfrm>
            <a:off x="959143" y="2225841"/>
            <a:ext cx="1378368" cy="72189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Two-class</a:t>
            </a:r>
          </a:p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Multi-class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B8E51E7A-9755-6F6D-89C8-8AE6E576C91F}"/>
              </a:ext>
            </a:extLst>
          </p:cNvPr>
          <p:cNvSpPr/>
          <p:nvPr/>
        </p:nvSpPr>
        <p:spPr>
          <a:xfrm>
            <a:off x="3794585" y="2225841"/>
            <a:ext cx="1378367" cy="120315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2" rtlCol="0" anchor="ctr"/>
          <a:lstStyle/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PB2</a:t>
            </a:r>
          </a:p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PB1</a:t>
            </a:r>
          </a:p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PA</a:t>
            </a:r>
          </a:p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HA</a:t>
            </a:r>
          </a:p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NP</a:t>
            </a:r>
          </a:p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NA</a:t>
            </a:r>
          </a:p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M1</a:t>
            </a:r>
          </a:p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NS1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5B729D1A-3F7D-50EE-A6C5-A5ABD77205C3}"/>
              </a:ext>
            </a:extLst>
          </p:cNvPr>
          <p:cNvSpPr/>
          <p:nvPr/>
        </p:nvSpPr>
        <p:spPr>
          <a:xfrm>
            <a:off x="6545180" y="2225842"/>
            <a:ext cx="1548062" cy="174458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r>
              <a:rPr lang="en-GB" dirty="0" err="1">
                <a:solidFill>
                  <a:sysClr val="windowText" lastClr="000000"/>
                </a:solidFill>
              </a:rPr>
              <a:t>CTDc</a:t>
            </a:r>
            <a:r>
              <a:rPr lang="en-GB" dirty="0">
                <a:solidFill>
                  <a:sysClr val="windowText" lastClr="000000"/>
                </a:solidFill>
              </a:rPr>
              <a:t> (39)</a:t>
            </a:r>
          </a:p>
          <a:p>
            <a:pPr algn="ctr"/>
            <a:r>
              <a:rPr lang="en-GB" dirty="0" err="1">
                <a:solidFill>
                  <a:sysClr val="windowText" lastClr="000000"/>
                </a:solidFill>
              </a:rPr>
              <a:t>CTDd</a:t>
            </a:r>
            <a:r>
              <a:rPr lang="en-GB" dirty="0">
                <a:solidFill>
                  <a:sysClr val="windowText" lastClr="000000"/>
                </a:solidFill>
              </a:rPr>
              <a:t> (195)</a:t>
            </a:r>
          </a:p>
          <a:p>
            <a:pPr algn="ctr"/>
            <a:r>
              <a:rPr lang="en-GB" dirty="0" err="1">
                <a:solidFill>
                  <a:sysClr val="windowText" lastClr="000000"/>
                </a:solidFill>
              </a:rPr>
              <a:t>CTDt</a:t>
            </a:r>
            <a:r>
              <a:rPr lang="en-GB" dirty="0">
                <a:solidFill>
                  <a:sysClr val="windowText" lastClr="000000"/>
                </a:solidFill>
              </a:rPr>
              <a:t> (39)</a:t>
            </a:r>
          </a:p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DPC (400)</a:t>
            </a:r>
          </a:p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PAAC (23)</a:t>
            </a:r>
          </a:p>
          <a:p>
            <a:pPr algn="ctr"/>
            <a:r>
              <a:rPr lang="en-GB" dirty="0" err="1">
                <a:solidFill>
                  <a:sysClr val="windowText" lastClr="000000"/>
                </a:solidFill>
              </a:rPr>
              <a:t>Ctriad</a:t>
            </a:r>
            <a:r>
              <a:rPr lang="en-GB" dirty="0">
                <a:solidFill>
                  <a:sysClr val="windowText" lastClr="000000"/>
                </a:solidFill>
              </a:rPr>
              <a:t> (343)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F26271F0-0D24-E2F9-38ED-8BCDEE8F7DED}"/>
              </a:ext>
            </a:extLst>
          </p:cNvPr>
          <p:cNvSpPr/>
          <p:nvPr/>
        </p:nvSpPr>
        <p:spPr>
          <a:xfrm>
            <a:off x="8682790" y="2225842"/>
            <a:ext cx="2943726" cy="258679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3" rtlCol="0" anchor="ctr"/>
          <a:lstStyle/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H10N7</a:t>
            </a:r>
          </a:p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H16N3</a:t>
            </a:r>
          </a:p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H17N10</a:t>
            </a:r>
          </a:p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H18N11</a:t>
            </a:r>
          </a:p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H1N1</a:t>
            </a:r>
          </a:p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H1N2</a:t>
            </a:r>
          </a:p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H3N2</a:t>
            </a:r>
          </a:p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H3N6</a:t>
            </a:r>
          </a:p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H3N8</a:t>
            </a:r>
          </a:p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H4N2</a:t>
            </a:r>
          </a:p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H4N6</a:t>
            </a:r>
          </a:p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H5N1</a:t>
            </a:r>
          </a:p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H5N2</a:t>
            </a:r>
          </a:p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H5N3</a:t>
            </a:r>
          </a:p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H5N5</a:t>
            </a:r>
          </a:p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H5N6</a:t>
            </a:r>
          </a:p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H5N8</a:t>
            </a:r>
          </a:p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H6N1</a:t>
            </a:r>
          </a:p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H6N2</a:t>
            </a:r>
          </a:p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H6N6</a:t>
            </a:r>
          </a:p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H7N1</a:t>
            </a:r>
          </a:p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H7N3</a:t>
            </a:r>
          </a:p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H7N7</a:t>
            </a:r>
          </a:p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H7N9</a:t>
            </a:r>
          </a:p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H9N2</a:t>
            </a:r>
          </a:p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Misc.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257DCEB-E16C-6942-62B2-68E775C08879}"/>
              </a:ext>
            </a:extLst>
          </p:cNvPr>
          <p:cNvCxnSpPr>
            <a:stCxn id="9" idx="3"/>
            <a:endCxn id="10" idx="1"/>
          </p:cNvCxnSpPr>
          <p:nvPr/>
        </p:nvCxnSpPr>
        <p:spPr>
          <a:xfrm flipV="1">
            <a:off x="2731169" y="1197141"/>
            <a:ext cx="669758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4939E05-75D7-252C-70EF-0234104F6183}"/>
              </a:ext>
            </a:extLst>
          </p:cNvPr>
          <p:cNvCxnSpPr/>
          <p:nvPr/>
        </p:nvCxnSpPr>
        <p:spPr>
          <a:xfrm flipV="1">
            <a:off x="5566611" y="1197138"/>
            <a:ext cx="669758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C84524B-5057-AC30-0B1E-780E4181F306}"/>
              </a:ext>
            </a:extLst>
          </p:cNvPr>
          <p:cNvCxnSpPr/>
          <p:nvPr/>
        </p:nvCxnSpPr>
        <p:spPr>
          <a:xfrm flipV="1">
            <a:off x="8402053" y="1197137"/>
            <a:ext cx="669758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35548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246</Words>
  <Application>Microsoft Macintosh PowerPoint</Application>
  <PresentationFormat>Widescreen</PresentationFormat>
  <Paragraphs>134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Consolas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Jordan Bone (PGR)</dc:creator>
  <cp:lastModifiedBy>Jordan Bone (PGR)</cp:lastModifiedBy>
  <cp:revision>5</cp:revision>
  <cp:lastPrinted>2025-10-09T11:51:35Z</cp:lastPrinted>
  <dcterms:created xsi:type="dcterms:W3CDTF">2025-07-08T12:37:51Z</dcterms:created>
  <dcterms:modified xsi:type="dcterms:W3CDTF">2025-10-09T11:53:19Z</dcterms:modified>
</cp:coreProperties>
</file>